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9c3515dc8442a3" /><Relationship Type="http://schemas.openxmlformats.org/officeDocument/2006/relationships/extended-properties" Target="/docProps/app.xml" Id="R066adeac65f144c1" /><Relationship Type="http://schemas.openxmlformats.org/officeDocument/2006/relationships/officeDocument" Target="/ppt/presentation.xml" Id="Rba95a9eab7ef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1be67374734512"/>
  </p:sldMasterIdLst>
  <p:notesMasterIdLst>
    <p:notesMasterId xmlns:r="http://schemas.openxmlformats.org/officeDocument/2006/relationships" r:id="Rab5b4d173622454c"/>
  </p:notesMasterIdLst>
  <p:sldIdLst>
    <p:sldId xmlns:r="http://schemas.openxmlformats.org/officeDocument/2006/relationships" id="256" r:id="R6d841fdbbeec43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e7d47b849c4e3d" /><Relationship Type="http://schemas.openxmlformats.org/officeDocument/2006/relationships/slideMaster" Target="/ppt/slideMasters/slideMaster1.xml" Id="R7a1be67374734512" /><Relationship Type="http://schemas.openxmlformats.org/officeDocument/2006/relationships/notesMaster" Target="/ppt/notesMasters/notesMaster1.xml" Id="Rab5b4d173622454c" /><Relationship Type="http://schemas.openxmlformats.org/officeDocument/2006/relationships/presProps" Target="/ppt/presProps.xml" Id="Rbde71bdb76814b7e" /><Relationship Type="http://schemas.openxmlformats.org/officeDocument/2006/relationships/tableStyles" Target="/ppt/tableStyles.xml" Id="R0c058a9850394a78" /><Relationship Type="http://schemas.openxmlformats.org/officeDocument/2006/relationships/slide" Target="/ppt/slides/slide1.xml" Id="R6d841fdbbeec43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6e80ac7c5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70151a70d04a70" /><Relationship Type="http://schemas.openxmlformats.org/officeDocument/2006/relationships/notesMaster" Target="/ppt/notesMasters/notesMaster1.xml" Id="R14bc4b33930c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SIMULATION. Sämtliche persönlichen Lernbeispiele sind erfunden. Keine eigenen Erlebnisse oder tatsächlichen Messresultate.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 der Anforderungen: IFBL_Kurshandbuch.pdf, S. 10 (A1.2), S. 20 (B1), S. 21 (Abgabe). Leitfragen sind Angebote, keine Pflichtliste.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Die drei Themen fassen wiederholte Gedanken zusammen; jede individuelle Notiz bleibt in Lernnotizen-Gruppe5-SIMULATION.json erhalten.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Messkontakt: G5-VB-DI-AM-001, G5-VB-MI-PM-001, G5-HQ-DI-AM-001, G5-HQ-MI-PM-001, G5-LW-DI-AM-001, G5-LW-MI-PM-001, G5-MH-DI-AM-001, G5-MH-MI-PM-001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Raum &amp; Tiefe: G5-VB-DI-PM-001, G5-VB-DO-PM-001, G5-HQ-DI-PM-001, G5-HQ-DO-PM-001, G5-LW-DI-PM-001, G5-LW-DO-PM-001, G5-MH-DI-PM-001, G5-MH-DO-PM-001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Vergleichbarkeit: G5-VB-MI-AM-001, G5-VB-DO-AM-001, G5-HQ-MI-AM-001, G5-HQ-DO-AM-001, G5-LW-MI-AM-001, G5-LW-DO-AM-001, G5-MH-MI-AM-001, G5-MH-DO-AM-001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Alle vier Personen haben sechs hypothetische Notizen. Sprecherrollen sind noch nicht festgelegt; ausgewogene tatsächliche Beteiligung muss gemeinsam vereinbart werden.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Die Folie deckt nur die Lernnotiz-Synthese ab. Eigene Datenauswertung, Qualitätsreflexion und Erklärvideo werden separat ergänzt.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4a86a298c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0b340b285473d" /><Relationship Type="http://schemas.openxmlformats.org/officeDocument/2006/relationships/slideLayout" Target="/ppt/slideLayouts/slideLayout1.xml" Id="R7327734075cd4b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27734075cd4b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4bdaed1db4d39" /><Relationship Type="http://schemas.openxmlformats.org/officeDocument/2006/relationships/notesSlide" Target="/ppt/notesSlides/notesSlide1.xml" Id="R80486095b36c48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F0710-9046-46D9-B897-F976770D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AC9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AC9D8"/>
                </a:solidFill>
                <a:latin typeface="Arial"/>
                <a:ea typeface="Arial"/>
                <a:cs typeface="Arial"/>
              </a:rPr>
              <a:t>GRUPPE 5  ·  A1.2 → B1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6AA8F-F534-49A3-86CE-FB11391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1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BB76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B760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683F6-E6B5-4ADB-8B0C-619EFD46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Unser Lernfortschritt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28800"/>
                <a:gridCol w="3048000"/>
                <a:gridCol w="3048000"/>
                <a:gridCol w="3048000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AC9D8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1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Messkontakt</a:t>
                      </a:r>
                    </a:p>
                  </a:txBody>
                  <a:tcPr marL="91440" marR="91440" marT="45720" marB="45720">
                    <a:solidFill>
                      <a:srgbClr val="11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Raum &amp; Tiefe</a:t>
                      </a:r>
                    </a:p>
                  </a:txBody>
                  <a:tcPr marL="91440" marR="91440" marT="45720" marB="45720">
                    <a:solidFill>
                      <a:srgbClr val="11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Vergleichbarkeit</a:t>
                      </a:r>
                    </a:p>
                  </a:txBody>
                  <a:tcPr marL="91440" marR="91440" marT="45720" marB="45720">
                    <a:solidFill>
                      <a:srgbClr val="112333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AC9D8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Kontakt ≠ gültiger Wert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Ein Punkt ≠ ganzes Profil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Viele Zahlen ≠ Vergleichbarkeit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AC9D8"/>
                          </a:solidFill>
                          <a:latin typeface="Arial"/>
                          <a:ea typeface="Arial"/>
                          <a:cs typeface="Arial"/>
                        </a:rPr>
                        <a:t>Erkenntnis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Menge + Bindung + Randbedingungen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Tiefe + Ort + Geometrie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Methode + Zeit + Parameter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AC9D8"/>
                          </a:solidFill>
                          <a:latin typeface="Arial"/>
                          <a:ea typeface="Arial"/>
                          <a:cs typeface="Arial"/>
                        </a:rPr>
                        <a:t>Überraschung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Mehr Wasser ≠ freies Wasser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Mittelwerte verdecken Unterschiede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Plausibel ≠ vollständig</a:t>
                      </a:r>
                    </a:p>
                  </a:txBody>
                  <a:tcPr marL="91440" marR="91440" marT="45720" marB="45720">
                    <a:solidFill>
                      <a:srgbClr val="182E40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AC9D8"/>
                          </a:solidFill>
                          <a:latin typeface="Arial"/>
                          <a:ea typeface="Arial"/>
                          <a:cs typeface="Arial"/>
                        </a:rPr>
                        <a:t>Jetzt</a:t>
                      </a:r>
                    </a:p>
                  </a:txBody>
                  <a:tcPr marL="91440" marR="91440" marT="45720" marB="45720">
                    <a:solidFill>
                      <a:srgbClr val="183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Kontakt / Phase dokumentieren</a:t>
                      </a:r>
                    </a:p>
                  </a:txBody>
                  <a:tcPr marL="91440" marR="91440" marT="45720" marB="45720">
                    <a:solidFill>
                      <a:srgbClr val="183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Profile + Einzelwerte zeigen</a:t>
                      </a:r>
                    </a:p>
                  </a:txBody>
                  <a:tcPr marL="91440" marR="91440" marT="45720" marB="45720">
                    <a:solidFill>
                      <a:srgbClr val="183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CF4F7"/>
                          </a:solidFill>
                          <a:latin typeface="Arial"/>
                          <a:ea typeface="Arial"/>
                          <a:cs typeface="Arial"/>
                        </a:rPr>
                        <a:t>Bedingungen zuerst prüfen</a:t>
                      </a:r>
                    </a:p>
                  </a:txBody>
                  <a:tcPr marL="91440" marR="91440" marT="45720" marB="45720">
                    <a:solidFill>
                      <a:srgbClr val="183C4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9E749-53E0-4AB4-AEFE-65C441D0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AC9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AC9D8"/>
                </a:solidFill>
                <a:latin typeface="Arial"/>
                <a:ea typeface="Arial"/>
                <a:cs typeface="Arial"/>
              </a:rPr>
              <a:t>4 Perspektiven  ·  6 Stationen  ·  24 nachvollziehbare Notizen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1D315-3805-46D6-9B16-083EFEA9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ED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EDA"/>
                </a:solidFill>
                <a:latin typeface="Arial"/>
                <a:ea typeface="Arial"/>
                <a:cs typeface="Arial"/>
              </a:rPr>
              <a:t>Verena Bauer  /  Heyuan Qiu  /  Lorenz Wolf  /  Moritz Holzleitner</a:t>
            </a:r>
          </a:p>
        </p:txBody>
      </p:sp>
    </p:spTree>
    <p:extLst>
      <p:ext uri="{BB962C8B-B14F-4D97-AF65-F5344CB8AC3E}">
        <p14:creationId xmlns:p14="http://schemas.microsoft.com/office/powerpoint/2010/main" val="81146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2026-10-05T22:30:10.5410000Z</dcterms:created>
  <dcterms:modified xsi:type="dcterms:W3CDTF">2026-10-05T22:30:10.5410000Z</dcterms:modified>
</coreProperties>
</file>